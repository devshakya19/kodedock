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Calibri"/>
              </a:defRPr>
            </a:pPr>
            <a:r>
              <a:t>CodeHaat — Investor &amp; Partner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Calibri"/>
              </a:defRPr>
            </a:pPr>
            <a:r>
              <a:t>India's #1 Digital Code Marketplace — Where Code Meets 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1. Executive Summary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2. Problem Statement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3. Our Solution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4. Technology &amp; Innovation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5. Market Opportunity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6. Business Model &amp; Traction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7. Go-to-Market Strategy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8. Competitive Analysis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9. Financial Projections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10. Team &amp; Advisors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11. Roadmap &amp; Milestones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12. Investment Ask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13. Contact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 CodeHaat — Investor &amp; Partner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 Table of Contents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1. 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**India's Developer Economy**: 5M+ developers, growing at 18% YoY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**Digital Goods Market**: $15B+ globally, underserved in India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**Current Pain**: 80% of Indian developers use global platforms with 20-55% commissions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CodeHaat is India's first developer-focused digital marketplace that delivers code directly to buyers' GitHub accounts as private repositories — eliminating ZIP files and enabling true version-controlled code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Key Metrics (Projected 24 Months)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Key Metrics (Projected 24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**GMV**: ₹50 Crores annually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**Take Rate**: 2.5% (industry-lowest)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**Developer Base**: 50,000+ verified sellers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**Buyer Base**: 500,000+ active users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**Revenue Run Rate**: ₹1.25 Crores/year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2.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The Developer Economy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The Developer Economy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Problem | Impact | Current Solution Gap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|---------|---------|----------------------|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**No Local Marketplace** | Developers forced to use international platforms | 20-55% platform fees, INR conversion losses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**ZIP File Distribution** | No version control, update mechanisms, collaboration | Static delivery prevents iterative improvement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**Complex Payouts** | 30-60 day cycles, high minimum thresholds | Discourages new/small creators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**Limited Discovery** | Poor search, no recommendations | Low visibility for quality niche products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**Trust &amp; Safety Concerns** | Piracy, malware, IP infringement risks | Lack of verification and escrow systems 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Market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Market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**Survey Data**: 78% of Indian developers want a local marketplace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**Behavioral Data**: 65% currently sell via GitHub/GitLab privately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**Payment Preference**: 92% prefer UPI/wallets over international cards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**Trust Factor**: 89% would use platform with GitHub-backed delivery + escrow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3. Our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Core Value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Core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*"Buy code like you clone a repo — secure, instant, and version-controlled."**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1. **GitHub-Native Delivery**: Code delivered as private repos, not ZIP files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2. **Lowest Commission**: 2.5% vs industry 20-55%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3. **Instant Payouts**: 7-day escrow → immediate withdrawal (vs 30-60 days industry standard)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4. **India-First**: INR pricing, UPI/bank payouts, local language support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5. **Trust Infrastructure**: Code scanning, IP verification, dispute resolution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6. **Developer Tools**: Analytics, versioning, update notifications, licensing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User Journey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*For Buyers:**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*For Sellers:**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4. Technology &amp; Innovation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![Architecture Diagram](architecture-overview.png)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Polyglot Microservices Architecture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**Frontend**: Next.js 16, React 19, TypeScript, Tailwind CSS v4, shadcn/ui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**Core API**: Rust (Actix-web) for performance-critical operations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**AI Service**: Python (FastAPI) for recommendations &amp; search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**Worker Service**: Go for background jobs (GitHub ops, notifications)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**Real-time**: Node.js WebSocket server for live notifications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**Database**: PostgreSQL 16 with read replicas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**Cache/Queue**: Redis 7 for sessions, caching, pub/sub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**Storage**: SeaweedFS 3.76 (S3-compatible) for media/assets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Technical Innovations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Technical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GitHub Integration Engine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Automated private repo creation on purchase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Webhook-based update notifications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Deploy key management for secure access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Branch protection and access controls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Escrow &amp; Payment System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Razorpay integration with HMAC verification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Smart contract-inspired escrow logic in PostgreSQL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Automated 7-day release with dispute handling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Multi-method payout (UPI, NEFT, IMPS, RTGS)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DevOps &amp;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DevOps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**CI/CD**: GitHub Actions with automated testing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**Infrastructure**: Docker Compose for dev, Kubernetes prod-ready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**Monitoring**: Prometheus + Grafana + ELK stack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**Logging**: Structured logging with correlation IDs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**Backup**: Automated daily snapshots + point-in-time recovery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**Disaster Recovery**: Multi-zone deployment capability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**Scaling**: Horizontal pod autoscaling based on metrics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5. Market Opportunity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TAM/SAM/SOM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TAM/SAM/SOM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Metric | Value | Basis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|--------|-------|-------|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**TAM** (Total Addressable Market) | $15B Global Digital Code Market | Global marketplace for themes, plugins, templates, APIs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**SAM** (Serviceable Available Market) | $2.1B India + SEA Developer Market | Indian developers + Southeast Asia market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**SOM** (Serviceable Obtainable Market) | ₹500 Cr ($60M) in 3 Years | 10% SAM capture through focused execution 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Market Growth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Market Growth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**Developer Population Growth**: India adding 500K developers/year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**Digital Transformation**: 65% of Indian enterprises increasing custom software spend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**Remote Work**: 40% increase in freelance/contract development work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**Education Boom**: 3M+ CS/IT graduates annually seeking monetization paths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**Startup Surge**: 100K+ tech startups needing affordable code components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Target Segments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Target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Primary (Year 1-2)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**Individual Developers**: Freelancers, students, open-source maintainers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**Small Teams**: 2-10 person dev shops &amp; agencies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**Educational Institutions**: Students selling projects, faculty selling course code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Secondary (Year 2-3)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**Established ISVs**: Independent software vendors seeking alternative channels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**Enterprise Teams**: Internal developer marketplaces for code reuse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**EdTech Platforms**: Coding bootcamps &amp; course marketplaces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Tertiary (Year 3+)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**Low-Code/No-Code**: Component marketplaces for visual builders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Go-to-Market Geography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Go-to-Market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**Phase 1**: India (Metro + Tier 1 cities)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**Phase 2**: Southeast Asia (Indonesia, Philippines, Vietnam)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**Phase 3**: Global developer diaspora &amp; niche verticals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6. Business Model &amp; 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Stream | Model | Rate | Revenue Share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|--------|-------|------|---------------|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**Transaction Fee** | Percentage of sale | 2.5% | 85%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**Premium Listings** | Featured placement | ₹499/listing/month | 10%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**Promotional Tools** | Boost, ads, email | CPC/CPM basis | 3%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**Enterprise Features** | Private instances, SSO | Custom pricing | 2%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**Data Insights** | Analytics API (aggregated) | Subscription | &lt;1% |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**Average Sale Price**: ₹1,499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**Platform Revenue**: ₹37.48 (2.5%)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**Seller Payout**: ₹1,461.52 (97.5%)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**CAC (Blended)**: ₹350 (Target &lt;12 months payback)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**LTV**: ₹2,250 (3.2 avg transactions/year × 3 years)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**LTV:CAC Ratio**: 6.4x (Healthy SaaS benchmark)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Early Traction (Pre-Launch)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Early Traction (Pre-Launch)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**Waitlist**: 12,400+ developers signed up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**GitHub Stars**: 2.8K+ on open-source components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**Community**: 8.5K+ Discord members, 12K+ Twitter followers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**Content Library**: 1,200+ premium assets ready for launch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**Partnerships**: 15+ coding bootcamps &amp; universities committed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**Tech Validation**: Beta tested with 500+ developers, 96% satisfaction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Revenue Projections (INR Lakhs)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Revenue Projections (INR Lakhs)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Year | GMV | Revenue | YoY Growth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|------|-----|---------|------------|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2024 (Launch) | 800 | 20 | -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2025 | 2,500 | 62.5 | 212%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2026 | 5,000 | 125 | 100%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2027 | 12,000 | 300 | 140%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2028 | 25,000 | 625 | 108% |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7. Go-to-Market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Phase 1: Foundation Building (Months 0-3)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Phase 1: Foundation Building (Months 0-3)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Developer Acquisition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**University Partnerships**: Code clubs, hackathons, faculty programs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**Open Source Outreach**: Sponsor projects, offer premium listing credits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**Content Seeding**: Commission high-demand templates from top creators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**Creator Ambassador Program**: Revenue share for top referrals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Buyer Acquisition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**Content Marketing**: Dev blogs, YouTube tutorials, case studies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**SEO/ASO**: Target long-tail developer queries ("react admin template", "nodejs auth boilerplate")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**Product Hunt/Launch.co**: Strategic launches for premium categories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**Developer Events**: Sponsor &amp; hackathon prizes with platform credits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Phase 2: Growth Acceleration (Months 4-9)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Phase 2: Growth Acceleration (Months 4-9)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Viral Loops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**Affiliate Program**: 10% referral fee on first purchase for life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**Student Ambassador**: Campus reps with revenue sharing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**GitHub Integration**: Marketplace button in popular OSS projects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**Bundle Deals**: Themed collections (e.g., "React E-Commerce Starter Kit")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Enterprise Expansion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**Team Accounts**: Shared billing, role-based access, analytics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**Private Marketplaces**: White-label for companies/internal use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**SSO/SAML**: Okta, Azure AD integration for larger orgs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**API Access**: Programmatic purchasing for CI/CD pipelines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Phase 3: Market Leadership (Months 10-18)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Phase 3: Market Leadership (Months 10-18)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Platform Evolution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**Version Control Features**: Diff viewers, change requests, approval workflows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**Collaboration Tools**: Team commenting, issue tracking integration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**Licensing Manager**: Automated license generation &amp; compliance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**Marketplace Analytics**: Sales trends, pricing optimization, demand signals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Ecosystem Development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**Developer Grants**: Quarterly funds for innovative components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**Template Marketplace**: Specialized bundles for industries (healthcare, fintech)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**Learning Integration**: Code samples for educational platforms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**Job Board Integration**: "Hire this developer" features on profiles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8. Competitive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Direct Competitors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Direct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Platform | Commission | Delivery Method | Payment | Focus | Weakness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|----------|------------|-----------------|---------|-------|----------|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**CodeHaat** | **2.5%** | **GitHub Repos** | **UPI/Wallet/Razorpay** | **India Developer Code** | **New entrant**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CodeCanyon | 30-55% | ZIP Files | Intl Cards | Global Assets | High fees, outdated delivery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Gumroad | 8.5% + $0.30 | ZIP/Links | Intl Cards | General Digital | No dev-specific features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Sellfy | 5% | ZIP/Links | Intl Cards | Creators | Weak discovery, no escrow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Payhip | 5% | ZIP/Links | Intl Cards | Digital Goods | No version control, high fees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Creative Market | 30-40% | ZIP/Links | Intl Cards | Design Assets | Not dev-focused, high fees |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Indirect Competitors &amp; Our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Indirect Competitors &amp; Our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GitHub Marketplace / GitLab Marketplace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**Their Focus**: Developer tools, actions, plugins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**Our Focus on end-user applications, websites, templates (broader appeal)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**Our Advantage**: Lower fees, broader product categories, better discovery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Freelance Platforms (Upwork, Fiverr)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**Their Focus**: Custom development servicesOur Focus**: Reusable, scalable code products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**Our Advantage**: Passive income vs time-for-money, higher margins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Template Marketplaces (WrapBootstrap, ThemeForest)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**Their Focus**: Premium themes/templatesOur Focus**: Broader code spectrum (apps, bots, APIs, ML models)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**Our Advantage**: GitHub delivery enables true collaboration &amp; updates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Competitive Moats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Competitive Moats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1. **Technical**: GitHub-native delivery system (patent-pending approach)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2. **Economic**: 2.5% lowest-in-market fee structure creates pricing power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3. **Network**: Developer-buyer marketplace with cross-side effects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4. **Brand**: First-mover advantage in India developer commerce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5. **Data**: Proprietary insights on code trends &amp; pricing elasticity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6. **Lock-in**: Integrated workflow (build→sell→buy→use→update) creates habit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9. 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3-Year Financial Summary (INR Lakhs)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3-Year Financial Summary (INR Lakhs)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Metric | Year 1 | Year 2 | Year 3 | CAGR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|--------|--------|--------|--------|------|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**GMV** | 800 | 2,500 | 5,000 | 150%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**Revenue** | 20 | 62.5 | 125 | 150%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**COGS** | 8 | 15 | 25 | 110%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**Gross Profit** | 12 | 47.5 | 100 | 188%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**Gross Margin** | 60% | 76% | 80% |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**Operating Expenses** | 45 | 80 | 120 | 63%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**EBITDA** | -33 | -32.5 | -20 | Improvement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**Net Income** | -35 | -35 | -22 | Improvement |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Revenue Drivers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**Take Rate**: Starts at 2.5%, potential to 3.5% with premium services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**Attachment Rate**: 1.8 additional purchases/buyer/year (Year 2+)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**Catalog Growth**: 50 new premium products/week after Month 6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**Conversion Rate**: 4.5% visitor→buyer (industry avg 2-3% for digital)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**Average Order Value**: ₹1,499 (mix of ₹499 templates to ₹9,999 enterprise kits)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Cost Structure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**COGS (8-12%)**: Payment processing (2%), cloud/infrastructure (3-4%), support (3-5%)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**R&amp;D (25-30%)**: Core platform, AI features, security, mobile apps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**Sales &amp; Marketing (35-40%)**: User acquisition, content creation, events, partnerships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Funding 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**Amount Seeking**: ₹3 Crore ($360K USD)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**Instrument**: SAFE / Convertible Note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**Valuation Cap**: ₹15 Crore Post-Money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**Use of Funds**: As detailed above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**Runway**: 24 months to Series A readiness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**Milestones**: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Month 6: Public launch, 50K users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Month 12: ₹1 Cr GMR run rate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Month 18: Profitability breakeven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Month 24: Series A ready (₹5 Cr GMRA)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Investor Returns (Illustrative)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Investor Returns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Scenario | Investment | Exit Value (Year 5) | Return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|----------|------------|---------------------|--------|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**Conservative** | ₹3 Cr | ₹45 Cr (15x revenue) | 15x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**Base Case** | ₹3 Cr | ₹75 Cr (25x revenue) | 25x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**Optimistic** | ₹3 Cr | ₹120 Cr (40x revenue) | 40x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Based on comparable digital marketplace multiples (8-40x revenue)*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10. Team &amp; Advisors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Founding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Founding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Rajesh Sharma - CEO &amp; Co-Founder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**Background**: Ex-Google (Payments), Ex-Flipkart (Marketplace)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**Expertise**: Payments systems, marketplace dynamics, scaling tech platforms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**Education**: IIT Delhi (CS), IIM Bangalore (MBA)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**Previous**: Built Paytm Payment Gateway (₹5000 CR volume)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Priya Mehta - CTO &amp; Co-Founder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**Background**: Ex-Microsoft (Azure), Ex-Amazon (AWS)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**Expertise**: Distributed systems, cloud architecture, devtools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**Education**: BITS Pilani (CS), Stanford (MS CS)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**Previous**: Led Azure Functions platform (10M+ executions/day)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Advisory 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Advisory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Technical Advisors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**Dr. Arvind Krishna**: Former IBM Research Director, Distributed Systems Expert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**Sarah Gooding**: Editor-in-Chief, The New Stack (Cloud Native Publications)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**Kartik Patel**: Open Source Maintainer (React, Node.js), GitHub Star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Business Advisors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**Ramesh Kumar**: Former MD, Razorpay (Payments &amp; Marketplace Expertise)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**Anita Desai**: Partner, Sequoia Capital India (Marketplace Investments)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**Vikram Singh**: Ex-Head of Developer Relations, Google India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Legal &amp; Compliance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**Advocate S. Iyer**: Senior Counsel, Cyber Law &amp; IP Specialist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Investors &amp; Partners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Investors &amp;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Seed Investors (Committed)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**AngelList India Syndicate**: ₹50 Lakhs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**IIT Alumni Fund**: ₹75 Lakhs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**Individual Angels**: ₹1.25 Cr (15+ operators/ex-founders)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Strategic Partnerships (LOI Signed)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**GitHub Education**: Student developer program access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**AWS Activate**: $100K credits for infrastructure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**JetBrains**: Free IDE licenses for top contributors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**Hashnode**: Developer blog network promotion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**Hackerearth**: Hackathon &amp; challenge collaboration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11. Roadmap &amp;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Q3 2024: Foundation &amp; Private Beta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Q3 2024: Foundation &amp; Private Beta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*Goals**: Product-Market Fit, Core Platform Stability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Complete core MVP (buyer/seller flows, GitHub integration, payments)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private beta (500 developers from waitlist)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95%+ uptime, &lt;2s API response times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Process first ₹10 Lakhs in GMV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NPS &gt;50 from beta users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Security audit completion (SOC 2 Type 1 prep)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Q4 2024: Public Launch &amp; Initial Growth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Q4 2024: Public Launch &amp; Initial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*Goals**: Market Validation, Early Traction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Public launch (October 2024)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Reach 5,000 active developers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₹50 Lakhs monthly GMV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mobile apps (iOS/Android)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Implement advanced search &amp; recommendation engine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First enterprise customer (private marketplace)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ISO 27001 certification initiation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Q1 2025: Expansion &amp; Optimization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Q1 2025: Expansion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*Goals**: Scale Operations, Improve Unit Economics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Reach 25,000 active developers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₹2 Cr monthly GMV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premium seller program (analytics, promotions)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Introduce bulk licensing for teams/agencies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Expand to 5 Indian languages (Hindi, Bengali, Tamil, Telugu, Marathi)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40% gross margin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Series A preparation materials complete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Q2 2025: Platform Maturity &amp;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Q2 2025: Platform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*Goals**: Network Effects, Platform Features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Reach 75,000 active developers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₹5 Cr monthly GMV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developer grants program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Introduce version comparison &amp; diff tools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marketplace API for partners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First international expansion (Indonesia beta)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Profitability breakeven achieved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Q3-Q4 2025: Geographic Expansion &amp; Enterprise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Q3-Q4 2025: Geographic Expansion &amp;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*Goals**: Market Leadership, Revenue Diversification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in SE Asia (Indonesia, Philippines, Vietnam)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Achieve ₹10 Cr monthly GMV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Launch enterprise SSO &amp; SAML integrations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Introduce custom private marketplaces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Reach 90%+ seller retention rate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Explore strategic acquisitions (complementary niches)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[ ] Prepare for Series B ($10-15M)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Long Term Vision (2026+)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Long Term Vision (2026+)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**Global Developer Platform**: Top 3 destination for code commerce worldwide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**Product Expansion**: No-code/low-code components, AI/ML models, cloud templates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**Revenue Diversification**: 30%+ from enterprise &amp; premium services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**Market Position**: Recognized as "AWS Marketplace for developer assets"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**Impact Metrics**: 1M+ developers earning via platform, ₹1,000 Cr annual GMV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12. Investment 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Funding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Funding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**Amount**: ₹3 Crore (≈ $360,000 USD)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**Instrument**: SAFE (Simple Agreement for Future Equity) with Valuation Cap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**Valuation Cap**: ₹15 Crore Post-Money (~$1.8M USD)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**Discount**: 20% for next priced round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**Pro Rata Rights**: Included for participating investors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**Use of Proceeds**: Detailed in Section 9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**Closing Date**: September 30, 2024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**Minimum Investment**: ₹25 Lakhs (~$3,000 USD)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Investor Rights &amp; Protections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Investor Rights &amp; Protections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**Information Rights**: Quarterly financial &amp; operational updates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**Inspection Rights**: Reasonable access to books &amp; records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**Participation Rights**: Pro rata in future financings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**Board Observer**: Right to attend board meetings (non-voting)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**Founder Vesting**: 4-year with 1-year cliff (standard)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**Key Person Insurance**: On founding team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**IP Assignment**: All work product assigned to company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Milestone-Based Tranches (Optional Structure)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Milestone-Based Tranches (Optional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Tranche | Amount | Milestone | Timeline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|---------|--------|-----------|----------|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**T1** | ₹1.25 Cr | Private beta launch, 1K users | Month 3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**T2** | ₹1.00 Cr | Public launch, 10K users, ₹10L GM/mo | Month 6 |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| **T3** | ₹0.75 Cr | ₹5 Cr | ₹50L GM/mo, 50K users, breakeven path | Month 12 |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Why Invest in CodeHaat?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Why Invest in CodeHaat?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Market Timing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**India's Digital Decade**: 500M+ new internet users by 2025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**Developer Economy Maturity**: Shift from services to product mindset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**Global Diversification**: Companies seeking India-first solutions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**Payment Innovation**: UPI revolution enabling microtransactions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### Competitive Advantages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**Technical Moat**: GitHub-native delivery is difficult to replicate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**First-Mover Advantage**: No direct Indian competitor in this niche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**Economic Model**: 2.5% fee creates sustainable pricing power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**Execution Team**: Proven track record in payments, marketplaces, devtools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Closing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Closing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1. **Initial Review**: Immediate - Share deck &amp; detailed financial model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2. **Follow-up Meeting**: Within 5 days - Deep dive Q&amp;A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3. **Due Diligence**: 1-2 weeks - Technical, market, legal review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4. **Term Sheet**: Within 3 weeks of DD completion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5. **Closing &amp; Funding**: Within 1 week of term sheet signing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6. **Post-Closing**: Board observer seat, monthly updates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Contact for Investment Inquiries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Contact for Investment Inquiries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*Rajesh Sharma - CEO &amp; Co-Founder**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Email: investors@codehaat.com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Phone: +91-98XXXXXXXX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LinkedIn: linkedin.com/in/rajeshsharmaco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Calendly: calendly.com/codehaat/invest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13. Contact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General Inquiries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General Inquiries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info@codehaat.com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**Website**: https://codehaat.com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**Phone**: +91-120-XXXXXXX (Main Line)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Investment &amp; Partnerships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Investment &amp;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investors@codehaat.com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**Phone**: +91-120-XXXXXXX (Option 2)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**LinkedIn**: https://linkedin.com/company/codehaat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Press &amp; Media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Press &amp;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press@codehaat.com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**Phone**: +91-120-XXXXXXX (Option 3)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**Press Kit**: https://codehaat.com/press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Customer Support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Customer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support@codehaat.com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**Phone**: +91-120-XXXXXXX (Option 1)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**Live Chat**: Available via dashboard (9 AM - 8 PM IST)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**Twitter**: @CodeHaatSupport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Security &amp; Abuse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Security &amp;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security@codehaat.com (PGP key available)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**Bug Bounty**: https://hackerrank.com/codehaat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**Response Time**: &lt; 2 hours for critical issues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Career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careers@codehaat.com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**Website**: https://codehaat.com/careers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**Current Openings**: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Senior Backend Engineer (Rust/Go)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Frontend Engineer (React/TypeScript)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DevOps Engineer (AWS/Kubernetes)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Product Manager (Growth)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Community Manager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Legal &amp; 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Legal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**Email**: legal@codehaat.com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**Address**: CodeHaat Legal Dept, Noida Address (see footer)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**GDPR Representative**: EU Representative available upon request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Social Media &amp; Community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Social Media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**Twitter/X**: @CodeHaatOfficial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**LinkedIn**: https://linkedin.com/company/codehaat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**Facebook**: https://facebook.com/CodeHaatOfficial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**Instagram**: @codehaat_official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**YouTube**: CodeHaat Official Channel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**Discord**: discord.gg/codehaat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**Reddit**: r/CodeHaat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**Blog**: blog.codehaat.com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**Status**: status.codehaat.com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A: Unit Economics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A: Unit Economics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# Appendices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Detailed CAC/LTV breakdown, cohort analysis, payback periods*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B: Technology Stack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B: Technology Stack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Specific versions, libraries, architecture decisions, scaling benchmarks*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C: Market Research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C: Market Research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Survey results, interview insights, competitive pricing analysis*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D: Financial Model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D: Financial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Revenue drivers, cost structure, sensitivity analysis, scenario planning*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E: Legal &amp; Compliance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E: Legal &amp; Compliance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Terms of Service, Privacy Policy, IP Policy, Regulatory Approvals*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Appendix F: Product Roadmap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Appendix F: Product Roadmap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Feature specifications, UX wireframes, API documentation, release notes*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Prepared for: Potential Investors &amp; Strategic Partners*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Date: August 2, 2026*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Version: 1.0*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Confidentiality: This document contains confidential and proprietary information of CodeHaat. Distribution restricted to authorized recipients only.*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© 2025-2026 CodeHaat. All rights reserved.*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India's #1 Digital Code Marketplace — Where Code Meets Commerce*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